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Lora" pitchFamily="2" charset="0"/>
      <p:regular r:id="rId11"/>
    </p:embeddedFont>
    <p:embeddedFont>
      <p:font typeface="Source Sans 3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ED309-CAB0-4714-82C3-3B8A8E9CE5B4}" v="1" dt="2025-11-08T13:59:19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06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79847"/>
            <a:ext cx="1157478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LegalSeg: Unlocking Indian Legal Judgments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4795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Presented By: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1905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- G618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28427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Praneeth Sai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349496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 Sai Yashwanth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14718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 Prateek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479940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 Chrysolite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45163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 Vamshi Krishna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10385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 : Mrs. G Keerthi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6845856"/>
            <a:ext cx="1295495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Transforming legal document understanding through AI-powered rhetorical role classification with the largest annotated dataset of its kind.</a:t>
            </a:r>
            <a:endParaRPr lang="en-US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B956CC-BC52-8216-30C6-B3773A090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6945" y="7695986"/>
            <a:ext cx="1676545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7686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Paper and Project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7916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3540800"/>
            <a:ext cx="618553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Legal documents are complex and unstructured. Understanding their semantic organization is crucial for legal research, case analysis, and automated decision-making systems.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288280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LegalSeg dataset with 7,120 documents and 1.4M sentences, enabling advanced AI models to segment legal texts into 7 rhetorical roles.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2879169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Innovation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614761" y="3540800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introduce the </a:t>
            </a:r>
            <a:r>
              <a:rPr lang="en-US" sz="1850" dirty="0">
                <a:solidFill>
                  <a:srgbClr val="000000"/>
                </a:solidFill>
                <a:highlight>
                  <a:srgbClr val="F98AC7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largest annotated dataset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Indian legal judgments, benchmarking multiple state-of-the-art models including transformers, GNNs, and instruction-tuned LLMs.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490525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work sets a foundation for future legal NLP research and practical applications.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330A62-B987-4A70-140B-DB53AC020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555" y="7640068"/>
            <a:ext cx="1676545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404" y="1587579"/>
            <a:ext cx="6716673" cy="505432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376273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348" y="541258"/>
            <a:ext cx="5508546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 &amp;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7348" y="1413391"/>
            <a:ext cx="6529626" cy="2981444"/>
          </a:xfrm>
          <a:prstGeom prst="roundRect">
            <a:avLst>
              <a:gd name="adj" fmla="val 762"/>
            </a:avLst>
          </a:prstGeom>
          <a:solidFill>
            <a:srgbClr val="4447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82" y="1609725"/>
            <a:ext cx="589121" cy="58912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726" y="1771650"/>
            <a:ext cx="265033" cy="2650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3682" y="2395180"/>
            <a:ext cx="231052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83682" y="2762488"/>
            <a:ext cx="231052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React-js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83682" y="3129796"/>
            <a:ext cx="231052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Node-js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83682" y="3497104"/>
            <a:ext cx="231052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Express-js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83682" y="3903702"/>
            <a:ext cx="61369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83682" y="4335780"/>
            <a:ext cx="61369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83682" y="4767858"/>
            <a:ext cx="61369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413308" y="1413391"/>
            <a:ext cx="6529745" cy="2981444"/>
          </a:xfrm>
          <a:prstGeom prst="roundRect">
            <a:avLst>
              <a:gd name="adj" fmla="val 762"/>
            </a:avLst>
          </a:prstGeom>
          <a:solidFill>
            <a:srgbClr val="44475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642" y="1609725"/>
            <a:ext cx="589121" cy="589121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1686" y="1771650"/>
            <a:ext cx="265033" cy="2650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09642" y="2395180"/>
            <a:ext cx="2625685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Colab &amp; VS Code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609642" y="2801779"/>
            <a:ext cx="613707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Colab for intensive model training with GPU acceleration. VS Code for web application development.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21638" y="4917738"/>
            <a:ext cx="6529626" cy="2839381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682" y="5671185"/>
            <a:ext cx="589121" cy="589121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5726" y="5833110"/>
            <a:ext cx="265033" cy="26503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3682" y="6456640"/>
            <a:ext cx="231052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MongoDB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883682" y="6863239"/>
            <a:ext cx="613695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NoSQL database solution for storing legal documents, annotations, and model predictions efficiently.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7379017" y="4925020"/>
            <a:ext cx="6529745" cy="2839380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9642" y="5671185"/>
            <a:ext cx="589121" cy="589121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71686" y="5833110"/>
            <a:ext cx="265033" cy="26503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609642" y="6456640"/>
            <a:ext cx="240708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Deployment Platforms</a:t>
            </a:r>
            <a:endParaRPr lang="en-US" sz="1800" dirty="0"/>
          </a:p>
        </p:txBody>
      </p:sp>
      <p:sp>
        <p:nvSpPr>
          <p:cNvPr id="27" name="Text 17"/>
          <p:cNvSpPr/>
          <p:nvPr/>
        </p:nvSpPr>
        <p:spPr>
          <a:xfrm>
            <a:off x="7609642" y="6863239"/>
            <a:ext cx="613707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Hugging Face for model evaluation and sharing. GitHub for version control and source code repository management.</a:t>
            </a:r>
            <a:endParaRPr lang="en-US" sz="15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E05C8ED-AD4A-A187-AEE6-07C96BCBAA8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25772" y="7757119"/>
            <a:ext cx="1676545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716" y="784622"/>
            <a:ext cx="6178272" cy="649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Mathematical Foundation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72716" y="1985724"/>
            <a:ext cx="3116818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Task Definition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72716" y="2596039"/>
            <a:ext cx="7635478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goal is semantic segmentation by assigning rhetorical role labels to each sentence in legal documents.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2716" y="3581638"/>
            <a:ext cx="763547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16" y="3581638"/>
            <a:ext cx="7635478" cy="3833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716" y="4244340"/>
            <a:ext cx="7635478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where </a:t>
            </a:r>
            <a:r>
              <a:rPr lang="en-US" sz="17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</a:t>
            </a: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a sequence of sentences and </a:t>
            </a:r>
            <a:r>
              <a:rPr lang="en-US" sz="17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</a:t>
            </a: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set of 7 rhetorical roles.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2716" y="4818221"/>
            <a:ext cx="3116818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Rhetorical Roles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772716" y="5487114"/>
            <a:ext cx="763547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16" y="5487114"/>
            <a:ext cx="7635478" cy="3833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716" y="6149816"/>
            <a:ext cx="7635478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each sentence </a:t>
            </a:r>
            <a:r>
              <a:rPr lang="en-US" sz="17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sij</a:t>
            </a: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we find: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2716" y="6782276"/>
            <a:ext cx="763547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16" y="6782276"/>
            <a:ext cx="7635478" cy="3833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54453" y="1985724"/>
            <a:ext cx="3658672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Multi-Task Learning Loss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8954453" y="2596039"/>
            <a:ext cx="4910733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MTL framework combines label shift prediction with role classification: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954453" y="3581638"/>
            <a:ext cx="4910733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4453" y="3581638"/>
            <a:ext cx="4910733" cy="3833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54453" y="4244340"/>
            <a:ext cx="4910733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where </a:t>
            </a:r>
            <a:r>
              <a:rPr lang="en-US" sz="170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λ</a:t>
            </a: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balances the two tasks, enabling better sequential dependency learning.</a:t>
            </a:r>
            <a:endParaRPr lang="en-US" sz="1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F82B6F-CED4-8CEB-44BB-9AF92568C9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3660" y="7705652"/>
            <a:ext cx="207674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439" y="363379"/>
            <a:ext cx="3109317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Statistics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9" y="851296"/>
            <a:ext cx="13705523" cy="72785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15326" y="8294846"/>
            <a:ext cx="132040" cy="132040"/>
          </a:xfrm>
          <a:prstGeom prst="roundRect">
            <a:avLst>
              <a:gd name="adj" fmla="val 13850"/>
            </a:avLst>
          </a:prstGeom>
          <a:solidFill>
            <a:srgbClr val="DA0B7D"/>
          </a:solidFill>
          <a:ln/>
        </p:spPr>
      </p:sp>
      <p:sp>
        <p:nvSpPr>
          <p:cNvPr id="5" name="Text 2"/>
          <p:cNvSpPr/>
          <p:nvPr/>
        </p:nvSpPr>
        <p:spPr>
          <a:xfrm>
            <a:off x="6608326" y="8294846"/>
            <a:ext cx="63067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91400" y="8294846"/>
            <a:ext cx="132040" cy="132040"/>
          </a:xfrm>
          <a:prstGeom prst="roundRect">
            <a:avLst>
              <a:gd name="adj" fmla="val 13850"/>
            </a:avLst>
          </a:prstGeom>
          <a:solidFill>
            <a:srgbClr val="F86DB9"/>
          </a:solidFill>
          <a:ln/>
        </p:spPr>
      </p:sp>
      <p:sp>
        <p:nvSpPr>
          <p:cNvPr id="7" name="Text 4"/>
          <p:cNvSpPr/>
          <p:nvPr/>
        </p:nvSpPr>
        <p:spPr>
          <a:xfrm>
            <a:off x="7584400" y="8294846"/>
            <a:ext cx="125599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Sentences (thousands)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2439" y="8905875"/>
            <a:ext cx="4458414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7,120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914287" y="9506903"/>
            <a:ext cx="155459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Documents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2439" y="9780389"/>
            <a:ext cx="4458414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Largest annotated legal dataset for rhetorical role classification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85993" y="8905875"/>
            <a:ext cx="4458414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1.4M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537841" y="9506903"/>
            <a:ext cx="155459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Annotated Sentences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85993" y="9780389"/>
            <a:ext cx="4458414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Comprehensive coverage across Supreme Court and High Courts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709547" y="8905875"/>
            <a:ext cx="4458414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1161395" y="9506903"/>
            <a:ext cx="1554599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Rhetorical Roles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09547" y="9780389"/>
            <a:ext cx="4458414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Facts, Issue, Arguments (Petitioner &amp; Respondent), Reasoning, Decision, None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4E0A9E-012B-DF84-78EB-2DDE69F36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3660" y="7685053"/>
            <a:ext cx="207674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391733"/>
            <a:ext cx="71043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Live Implementation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4547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DFE53-FF79-3370-436D-142A8F9AD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660" y="7705652"/>
            <a:ext cx="207674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288" y="613886"/>
            <a:ext cx="5850612" cy="65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 &amp; Key Learnings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81288" y="1828562"/>
            <a:ext cx="3151823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Performance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81288" y="2445663"/>
            <a:ext cx="626161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Legal-Long former achieved 42% F1-Score and 40% Precision, outperforming transformer-based approaches.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1288" y="3360896"/>
            <a:ext cx="626161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Insight:</a:t>
            </a: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Sequential modeling with CRF layers captures label transitions better than independent sentence classification.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1288" y="4298513"/>
            <a:ext cx="3193613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Challenges Overcome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781288" y="5154249"/>
            <a:ext cx="6261616" cy="47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 imbalance with overrepresented "None" and "Facts" labels</a:t>
            </a:r>
          </a:p>
          <a:p>
            <a:pPr algn="l">
              <a:lnSpc>
                <a:spcPts val="2800"/>
              </a:lnSpc>
              <a:buSzPct val="100000"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1288" y="5708094"/>
            <a:ext cx="626161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Confusion Between AOR and AOP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81288" y="6143387"/>
            <a:ext cx="626161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Computational constraints for large language models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5116" y="1828562"/>
            <a:ext cx="4115395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Improvements &amp; Extensions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7595116" y="2445663"/>
            <a:ext cx="6261616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implementation introduced novel approaches including </a:t>
            </a:r>
            <a:r>
              <a:rPr lang="en-US" sz="17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Legallongformer</a:t>
            </a: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with global context using transformer and CRF layer.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5116" y="3718084"/>
            <a:ext cx="626161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Applications: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5116" y="4276130"/>
            <a:ext cx="626161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legal rhetorical  role classification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5116" y="4711422"/>
            <a:ext cx="626161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legal search and insights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5116" y="5146715"/>
            <a:ext cx="6261616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for legal decision-making workflows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5116" y="5727144"/>
            <a:ext cx="3151823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7595116" y="6344245"/>
            <a:ext cx="6261616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</a:rPr>
              <a:t>Model training couldn’t be at most precise as we had computational dependencies for training large datasets and epochs.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02CB8E-5102-A78D-567E-0577A639B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660" y="7705652"/>
            <a:ext cx="2076740" cy="523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465</Words>
  <Application>Microsoft Office PowerPoint</Application>
  <PresentationFormat>Custom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Lora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Praneeth</dc:creator>
  <cp:lastModifiedBy>praneethsaiajjarapu@outlook.com</cp:lastModifiedBy>
  <cp:revision>4</cp:revision>
  <dcterms:created xsi:type="dcterms:W3CDTF">2025-11-07T11:21:42Z</dcterms:created>
  <dcterms:modified xsi:type="dcterms:W3CDTF">2025-11-08T13:59:20Z</dcterms:modified>
</cp:coreProperties>
</file>